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77" r:id="rId5"/>
    <p:sldId id="268" r:id="rId6"/>
    <p:sldId id="269" r:id="rId7"/>
    <p:sldId id="270" r:id="rId8"/>
    <p:sldId id="271" r:id="rId9"/>
    <p:sldId id="272" r:id="rId10"/>
    <p:sldId id="278" r:id="rId11"/>
    <p:sldId id="275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7FFCE-88A5-4F96-AB00-ED13E8DC2A6A}" v="6" dt="2025-09-02T06:12:22.544"/>
    <p1510:client id="{1C0A9428-18E7-BC09-C87C-8F890C8F41D7}" v="17" dt="2025-09-02T13:30:30.970"/>
    <p1510:client id="{69AA9642-C0D4-F76A-4BB4-E4EAFA82D45C}" v="846" dt="2025-09-01T18:59:11.291"/>
    <p1510:client id="{7FE0E2B9-76B4-85B3-A232-E7F003C23D1B}" v="12" dt="2025-09-01T19:05:44.079"/>
    <p1510:client id="{807EE40D-0469-3472-536F-ED9C383955DA}" v="31" dt="2025-09-01T18:38:14.513"/>
    <p1510:client id="{9A3755A4-BC87-9D7E-DD0C-D1924BE45E9A}" v="12" dt="2025-09-01T18:28:29.227"/>
    <p1510:client id="{9B58CDF2-5A95-90FE-90CF-45B4775A76DF}" v="2" dt="2025-09-02T13:21:42.506"/>
    <p1510:client id="{DFBDB4A9-0273-20D8-DBAC-814821B3EBF7}" v="271" dt="2025-09-02T14:19:09.460"/>
    <p1510:client id="{E54ADAF7-1F8B-9B34-389B-240692441202}" v="111" dt="2025-09-02T13:19:10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1233D0-37DC-4D0C-8632-39AC4AC778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2393E57-4820-4371-935F-7501A84580B7}">
      <dgm:prSet/>
      <dgm:spPr/>
      <dgm:t>
        <a:bodyPr/>
        <a:lstStyle/>
        <a:p>
          <a:r>
            <a:rPr lang="en-GB" dirty="0"/>
            <a:t>When requirements are likely to change.</a:t>
          </a:r>
          <a:endParaRPr lang="en-US" dirty="0"/>
        </a:p>
      </dgm:t>
    </dgm:pt>
    <dgm:pt modelId="{CFAB4E95-D080-44E1-B926-751EA066F4F5}" type="parTrans" cxnId="{0159C6B8-5E9E-4C44-A3E8-D1446F0A02BA}">
      <dgm:prSet/>
      <dgm:spPr/>
      <dgm:t>
        <a:bodyPr/>
        <a:lstStyle/>
        <a:p>
          <a:endParaRPr lang="en-US"/>
        </a:p>
      </dgm:t>
    </dgm:pt>
    <dgm:pt modelId="{A437EEAE-FE0D-4ADF-9271-70A2B63C874D}" type="sibTrans" cxnId="{0159C6B8-5E9E-4C44-A3E8-D1446F0A02BA}">
      <dgm:prSet/>
      <dgm:spPr/>
      <dgm:t>
        <a:bodyPr/>
        <a:lstStyle/>
        <a:p>
          <a:endParaRPr lang="en-US"/>
        </a:p>
      </dgm:t>
    </dgm:pt>
    <dgm:pt modelId="{6AB7C401-9D0C-42C9-9A99-683F4563D342}">
      <dgm:prSet/>
      <dgm:spPr/>
      <dgm:t>
        <a:bodyPr/>
        <a:lstStyle/>
        <a:p>
          <a:r>
            <a:rPr lang="en-GB" dirty="0"/>
            <a:t>When fast delivery is needed.</a:t>
          </a:r>
          <a:endParaRPr lang="en-US" dirty="0"/>
        </a:p>
      </dgm:t>
    </dgm:pt>
    <dgm:pt modelId="{C3D51FCC-73F9-44F2-BDA8-2C5525F89BE7}" type="parTrans" cxnId="{C9EC5B6B-5452-4BAA-9898-EA50CCB11671}">
      <dgm:prSet/>
      <dgm:spPr/>
      <dgm:t>
        <a:bodyPr/>
        <a:lstStyle/>
        <a:p>
          <a:endParaRPr lang="en-US"/>
        </a:p>
      </dgm:t>
    </dgm:pt>
    <dgm:pt modelId="{44EC7EF4-6BD4-4135-BA7F-4A1B94331A79}" type="sibTrans" cxnId="{C9EC5B6B-5452-4BAA-9898-EA50CCB11671}">
      <dgm:prSet/>
      <dgm:spPr/>
      <dgm:t>
        <a:bodyPr/>
        <a:lstStyle/>
        <a:p>
          <a:endParaRPr lang="en-US"/>
        </a:p>
      </dgm:t>
    </dgm:pt>
    <dgm:pt modelId="{FC9053D2-0697-4E62-B7EA-95BF365E6684}">
      <dgm:prSet/>
      <dgm:spPr/>
      <dgm:t>
        <a:bodyPr/>
        <a:lstStyle/>
        <a:p>
          <a:r>
            <a:rPr lang="en-GB"/>
            <a:t>When customer involvement is possible.</a:t>
          </a:r>
          <a:endParaRPr lang="en-US"/>
        </a:p>
      </dgm:t>
    </dgm:pt>
    <dgm:pt modelId="{8D2E20AA-375F-487E-B3EC-53B44E1934E7}" type="parTrans" cxnId="{81800725-CC2C-41BF-B1FD-89F357FED773}">
      <dgm:prSet/>
      <dgm:spPr/>
      <dgm:t>
        <a:bodyPr/>
        <a:lstStyle/>
        <a:p>
          <a:endParaRPr lang="en-US"/>
        </a:p>
      </dgm:t>
    </dgm:pt>
    <dgm:pt modelId="{C10E69B9-C667-4422-933B-EBDC9D5BC995}" type="sibTrans" cxnId="{81800725-CC2C-41BF-B1FD-89F357FED773}">
      <dgm:prSet/>
      <dgm:spPr/>
      <dgm:t>
        <a:bodyPr/>
        <a:lstStyle/>
        <a:p>
          <a:endParaRPr lang="en-US"/>
        </a:p>
      </dgm:t>
    </dgm:pt>
    <dgm:pt modelId="{85A9B7B0-3CC4-47FF-99C5-7A493061B886}">
      <dgm:prSet/>
      <dgm:spPr/>
      <dgm:t>
        <a:bodyPr/>
        <a:lstStyle/>
        <a:p>
          <a:r>
            <a:rPr lang="en-GB"/>
            <a:t>When projects need frequent updates.</a:t>
          </a:r>
          <a:endParaRPr lang="en-US"/>
        </a:p>
      </dgm:t>
    </dgm:pt>
    <dgm:pt modelId="{D2A252E6-8BA2-4E65-A4CA-3D6368EA9225}" type="parTrans" cxnId="{2B901C40-CE50-4B72-B61B-6CF3BB2D80DF}">
      <dgm:prSet/>
      <dgm:spPr/>
      <dgm:t>
        <a:bodyPr/>
        <a:lstStyle/>
        <a:p>
          <a:endParaRPr lang="en-US"/>
        </a:p>
      </dgm:t>
    </dgm:pt>
    <dgm:pt modelId="{6C46DF41-C431-4494-8CAD-E46C30F3D54C}" type="sibTrans" cxnId="{2B901C40-CE50-4B72-B61B-6CF3BB2D80DF}">
      <dgm:prSet/>
      <dgm:spPr/>
      <dgm:t>
        <a:bodyPr/>
        <a:lstStyle/>
        <a:p>
          <a:endParaRPr lang="en-US"/>
        </a:p>
      </dgm:t>
    </dgm:pt>
    <dgm:pt modelId="{F416D2DE-E65D-4314-A031-07D0DA593CBD}" type="pres">
      <dgm:prSet presAssocID="{DA1233D0-37DC-4D0C-8632-39AC4AC7783E}" presName="root" presStyleCnt="0">
        <dgm:presLayoutVars>
          <dgm:dir/>
          <dgm:resizeHandles val="exact"/>
        </dgm:presLayoutVars>
      </dgm:prSet>
      <dgm:spPr/>
    </dgm:pt>
    <dgm:pt modelId="{75494967-3EC4-4558-9368-AC2E9F8DC119}" type="pres">
      <dgm:prSet presAssocID="{F2393E57-4820-4371-935F-7501A84580B7}" presName="compNode" presStyleCnt="0"/>
      <dgm:spPr/>
    </dgm:pt>
    <dgm:pt modelId="{0A1BF226-3BE1-4CE1-AF92-217F7182E802}" type="pres">
      <dgm:prSet presAssocID="{F2393E57-4820-4371-935F-7501A84580B7}" presName="bgRect" presStyleLbl="bgShp" presStyleIdx="0" presStyleCnt="4"/>
      <dgm:spPr/>
    </dgm:pt>
    <dgm:pt modelId="{EFBB26E0-E0BB-4C38-A22E-A73C87EBBCFA}" type="pres">
      <dgm:prSet presAssocID="{F2393E57-4820-4371-935F-7501A84580B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ploy"/>
        </a:ext>
      </dgm:extLst>
    </dgm:pt>
    <dgm:pt modelId="{BCAC6847-1590-4070-B90F-D445EFADA1CB}" type="pres">
      <dgm:prSet presAssocID="{F2393E57-4820-4371-935F-7501A84580B7}" presName="spaceRect" presStyleCnt="0"/>
      <dgm:spPr/>
    </dgm:pt>
    <dgm:pt modelId="{AED1E63B-E7D6-47D3-8CF9-92FE680A8351}" type="pres">
      <dgm:prSet presAssocID="{F2393E57-4820-4371-935F-7501A84580B7}" presName="parTx" presStyleLbl="revTx" presStyleIdx="0" presStyleCnt="4">
        <dgm:presLayoutVars>
          <dgm:chMax val="0"/>
          <dgm:chPref val="0"/>
        </dgm:presLayoutVars>
      </dgm:prSet>
      <dgm:spPr/>
    </dgm:pt>
    <dgm:pt modelId="{E1DDA45B-655A-4BE8-A678-C0F952042CEC}" type="pres">
      <dgm:prSet presAssocID="{A437EEAE-FE0D-4ADF-9271-70A2B63C874D}" presName="sibTrans" presStyleCnt="0"/>
      <dgm:spPr/>
    </dgm:pt>
    <dgm:pt modelId="{264B344E-A211-428D-AF2B-CDA85B0768DF}" type="pres">
      <dgm:prSet presAssocID="{6AB7C401-9D0C-42C9-9A99-683F4563D342}" presName="compNode" presStyleCnt="0"/>
      <dgm:spPr/>
    </dgm:pt>
    <dgm:pt modelId="{06FE115B-247F-4800-8421-3BE796735E4E}" type="pres">
      <dgm:prSet presAssocID="{6AB7C401-9D0C-42C9-9A99-683F4563D342}" presName="bgRect" presStyleLbl="bgShp" presStyleIdx="1" presStyleCnt="4"/>
      <dgm:spPr/>
    </dgm:pt>
    <dgm:pt modelId="{1F93FEF7-F194-4D75-B40D-6E60B3BDCB84}" type="pres">
      <dgm:prSet presAssocID="{6AB7C401-9D0C-42C9-9A99-683F4563D3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st Forward"/>
        </a:ext>
      </dgm:extLst>
    </dgm:pt>
    <dgm:pt modelId="{E9B24390-EFC6-42FB-A6AA-84CDCFB83637}" type="pres">
      <dgm:prSet presAssocID="{6AB7C401-9D0C-42C9-9A99-683F4563D342}" presName="spaceRect" presStyleCnt="0"/>
      <dgm:spPr/>
    </dgm:pt>
    <dgm:pt modelId="{01EF1138-14AB-4209-ACAB-B87925E6A5B3}" type="pres">
      <dgm:prSet presAssocID="{6AB7C401-9D0C-42C9-9A99-683F4563D342}" presName="parTx" presStyleLbl="revTx" presStyleIdx="1" presStyleCnt="4">
        <dgm:presLayoutVars>
          <dgm:chMax val="0"/>
          <dgm:chPref val="0"/>
        </dgm:presLayoutVars>
      </dgm:prSet>
      <dgm:spPr/>
    </dgm:pt>
    <dgm:pt modelId="{776F5B12-0AD9-492A-80BA-5B4E453F10AD}" type="pres">
      <dgm:prSet presAssocID="{44EC7EF4-6BD4-4135-BA7F-4A1B94331A79}" presName="sibTrans" presStyleCnt="0"/>
      <dgm:spPr/>
    </dgm:pt>
    <dgm:pt modelId="{503ACCAA-C27B-45F7-A7DD-6ABCA7603FCE}" type="pres">
      <dgm:prSet presAssocID="{FC9053D2-0697-4E62-B7EA-95BF365E6684}" presName="compNode" presStyleCnt="0"/>
      <dgm:spPr/>
    </dgm:pt>
    <dgm:pt modelId="{37D6211F-8FD1-4E8E-B7F0-920AA161CAEF}" type="pres">
      <dgm:prSet presAssocID="{FC9053D2-0697-4E62-B7EA-95BF365E6684}" presName="bgRect" presStyleLbl="bgShp" presStyleIdx="2" presStyleCnt="4"/>
      <dgm:spPr/>
    </dgm:pt>
    <dgm:pt modelId="{775CCAA9-15E8-4044-8875-F36A8108E9D8}" type="pres">
      <dgm:prSet presAssocID="{FC9053D2-0697-4E62-B7EA-95BF365E66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boarding"/>
        </a:ext>
      </dgm:extLst>
    </dgm:pt>
    <dgm:pt modelId="{A5F73196-B92F-4B3E-A066-7DB55A9BBEAD}" type="pres">
      <dgm:prSet presAssocID="{FC9053D2-0697-4E62-B7EA-95BF365E6684}" presName="spaceRect" presStyleCnt="0"/>
      <dgm:spPr/>
    </dgm:pt>
    <dgm:pt modelId="{2EBE1D25-434F-429A-B5F4-9A5C642DF166}" type="pres">
      <dgm:prSet presAssocID="{FC9053D2-0697-4E62-B7EA-95BF365E6684}" presName="parTx" presStyleLbl="revTx" presStyleIdx="2" presStyleCnt="4">
        <dgm:presLayoutVars>
          <dgm:chMax val="0"/>
          <dgm:chPref val="0"/>
        </dgm:presLayoutVars>
      </dgm:prSet>
      <dgm:spPr/>
    </dgm:pt>
    <dgm:pt modelId="{80F42D6E-D582-4449-986A-12463C067C79}" type="pres">
      <dgm:prSet presAssocID="{C10E69B9-C667-4422-933B-EBDC9D5BC995}" presName="sibTrans" presStyleCnt="0"/>
      <dgm:spPr/>
    </dgm:pt>
    <dgm:pt modelId="{50A4516D-7F8F-4585-B86C-855A7A328C0A}" type="pres">
      <dgm:prSet presAssocID="{85A9B7B0-3CC4-47FF-99C5-7A493061B886}" presName="compNode" presStyleCnt="0"/>
      <dgm:spPr/>
    </dgm:pt>
    <dgm:pt modelId="{E4FE6BA4-0194-4E47-89CB-A5F4FF9B46F7}" type="pres">
      <dgm:prSet presAssocID="{85A9B7B0-3CC4-47FF-99C5-7A493061B886}" presName="bgRect" presStyleLbl="bgShp" presStyleIdx="3" presStyleCnt="4"/>
      <dgm:spPr/>
    </dgm:pt>
    <dgm:pt modelId="{FAD87ADE-91C8-4C63-B538-1988BECAFCD6}" type="pres">
      <dgm:prSet presAssocID="{85A9B7B0-3CC4-47FF-99C5-7A493061B8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g"/>
        </a:ext>
      </dgm:extLst>
    </dgm:pt>
    <dgm:pt modelId="{D903F3AB-ECD5-42B7-911F-2251607917CB}" type="pres">
      <dgm:prSet presAssocID="{85A9B7B0-3CC4-47FF-99C5-7A493061B886}" presName="spaceRect" presStyleCnt="0"/>
      <dgm:spPr/>
    </dgm:pt>
    <dgm:pt modelId="{D9605F1C-0146-4449-838F-81CF37FF2882}" type="pres">
      <dgm:prSet presAssocID="{85A9B7B0-3CC4-47FF-99C5-7A493061B8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70530F-408A-423B-890E-B1792592EC5E}" type="presOf" srcId="{85A9B7B0-3CC4-47FF-99C5-7A493061B886}" destId="{D9605F1C-0146-4449-838F-81CF37FF2882}" srcOrd="0" destOrd="0" presId="urn:microsoft.com/office/officeart/2018/2/layout/IconVerticalSolidList"/>
    <dgm:cxn modelId="{81800725-CC2C-41BF-B1FD-89F357FED773}" srcId="{DA1233D0-37DC-4D0C-8632-39AC4AC7783E}" destId="{FC9053D2-0697-4E62-B7EA-95BF365E6684}" srcOrd="2" destOrd="0" parTransId="{8D2E20AA-375F-487E-B3EC-53B44E1934E7}" sibTransId="{C10E69B9-C667-4422-933B-EBDC9D5BC995}"/>
    <dgm:cxn modelId="{2B901C40-CE50-4B72-B61B-6CF3BB2D80DF}" srcId="{DA1233D0-37DC-4D0C-8632-39AC4AC7783E}" destId="{85A9B7B0-3CC4-47FF-99C5-7A493061B886}" srcOrd="3" destOrd="0" parTransId="{D2A252E6-8BA2-4E65-A4CA-3D6368EA9225}" sibTransId="{6C46DF41-C431-4494-8CAD-E46C30F3D54C}"/>
    <dgm:cxn modelId="{07FB046B-4654-4A20-B477-0D2F67B86113}" type="presOf" srcId="{FC9053D2-0697-4E62-B7EA-95BF365E6684}" destId="{2EBE1D25-434F-429A-B5F4-9A5C642DF166}" srcOrd="0" destOrd="0" presId="urn:microsoft.com/office/officeart/2018/2/layout/IconVerticalSolidList"/>
    <dgm:cxn modelId="{C9EC5B6B-5452-4BAA-9898-EA50CCB11671}" srcId="{DA1233D0-37DC-4D0C-8632-39AC4AC7783E}" destId="{6AB7C401-9D0C-42C9-9A99-683F4563D342}" srcOrd="1" destOrd="0" parTransId="{C3D51FCC-73F9-44F2-BDA8-2C5525F89BE7}" sibTransId="{44EC7EF4-6BD4-4135-BA7F-4A1B94331A79}"/>
    <dgm:cxn modelId="{63355CA1-2DBF-4D87-B91A-202B8F2CEF09}" type="presOf" srcId="{F2393E57-4820-4371-935F-7501A84580B7}" destId="{AED1E63B-E7D6-47D3-8CF9-92FE680A8351}" srcOrd="0" destOrd="0" presId="urn:microsoft.com/office/officeart/2018/2/layout/IconVerticalSolidList"/>
    <dgm:cxn modelId="{7CCA64AA-0B4B-4E22-B105-D1AA3C048E2B}" type="presOf" srcId="{6AB7C401-9D0C-42C9-9A99-683F4563D342}" destId="{01EF1138-14AB-4209-ACAB-B87925E6A5B3}" srcOrd="0" destOrd="0" presId="urn:microsoft.com/office/officeart/2018/2/layout/IconVerticalSolidList"/>
    <dgm:cxn modelId="{23FA21AB-D22B-47E6-8C07-FBABC69754A3}" type="presOf" srcId="{DA1233D0-37DC-4D0C-8632-39AC4AC7783E}" destId="{F416D2DE-E65D-4314-A031-07D0DA593CBD}" srcOrd="0" destOrd="0" presId="urn:microsoft.com/office/officeart/2018/2/layout/IconVerticalSolidList"/>
    <dgm:cxn modelId="{0159C6B8-5E9E-4C44-A3E8-D1446F0A02BA}" srcId="{DA1233D0-37DC-4D0C-8632-39AC4AC7783E}" destId="{F2393E57-4820-4371-935F-7501A84580B7}" srcOrd="0" destOrd="0" parTransId="{CFAB4E95-D080-44E1-B926-751EA066F4F5}" sibTransId="{A437EEAE-FE0D-4ADF-9271-70A2B63C874D}"/>
    <dgm:cxn modelId="{0E506E42-468A-4E23-A7F1-5B7B98DD5DEC}" type="presParOf" srcId="{F416D2DE-E65D-4314-A031-07D0DA593CBD}" destId="{75494967-3EC4-4558-9368-AC2E9F8DC119}" srcOrd="0" destOrd="0" presId="urn:microsoft.com/office/officeart/2018/2/layout/IconVerticalSolidList"/>
    <dgm:cxn modelId="{E4D787AB-C20B-4E58-A2EB-61D4494FDAA1}" type="presParOf" srcId="{75494967-3EC4-4558-9368-AC2E9F8DC119}" destId="{0A1BF226-3BE1-4CE1-AF92-217F7182E802}" srcOrd="0" destOrd="0" presId="urn:microsoft.com/office/officeart/2018/2/layout/IconVerticalSolidList"/>
    <dgm:cxn modelId="{E68B28C5-7B87-43EC-8258-27A9FB2A608E}" type="presParOf" srcId="{75494967-3EC4-4558-9368-AC2E9F8DC119}" destId="{EFBB26E0-E0BB-4C38-A22E-A73C87EBBCFA}" srcOrd="1" destOrd="0" presId="urn:microsoft.com/office/officeart/2018/2/layout/IconVerticalSolidList"/>
    <dgm:cxn modelId="{046E79B1-C70D-458E-B71D-3202CC07E900}" type="presParOf" srcId="{75494967-3EC4-4558-9368-AC2E9F8DC119}" destId="{BCAC6847-1590-4070-B90F-D445EFADA1CB}" srcOrd="2" destOrd="0" presId="urn:microsoft.com/office/officeart/2018/2/layout/IconVerticalSolidList"/>
    <dgm:cxn modelId="{CB2DF7B4-38A2-440E-B69D-B132C054916A}" type="presParOf" srcId="{75494967-3EC4-4558-9368-AC2E9F8DC119}" destId="{AED1E63B-E7D6-47D3-8CF9-92FE680A8351}" srcOrd="3" destOrd="0" presId="urn:microsoft.com/office/officeart/2018/2/layout/IconVerticalSolidList"/>
    <dgm:cxn modelId="{29D41921-09C3-42D9-AB7B-329E2DAB9C83}" type="presParOf" srcId="{F416D2DE-E65D-4314-A031-07D0DA593CBD}" destId="{E1DDA45B-655A-4BE8-A678-C0F952042CEC}" srcOrd="1" destOrd="0" presId="urn:microsoft.com/office/officeart/2018/2/layout/IconVerticalSolidList"/>
    <dgm:cxn modelId="{1CB47D7F-43DE-4C93-B950-C088B4024FE5}" type="presParOf" srcId="{F416D2DE-E65D-4314-A031-07D0DA593CBD}" destId="{264B344E-A211-428D-AF2B-CDA85B0768DF}" srcOrd="2" destOrd="0" presId="urn:microsoft.com/office/officeart/2018/2/layout/IconVerticalSolidList"/>
    <dgm:cxn modelId="{0CB8D001-6587-4EF7-A67C-F144A69B6191}" type="presParOf" srcId="{264B344E-A211-428D-AF2B-CDA85B0768DF}" destId="{06FE115B-247F-4800-8421-3BE796735E4E}" srcOrd="0" destOrd="0" presId="urn:microsoft.com/office/officeart/2018/2/layout/IconVerticalSolidList"/>
    <dgm:cxn modelId="{FEEA85EC-52F3-46CE-AC3E-39B748FEEACE}" type="presParOf" srcId="{264B344E-A211-428D-AF2B-CDA85B0768DF}" destId="{1F93FEF7-F194-4D75-B40D-6E60B3BDCB84}" srcOrd="1" destOrd="0" presId="urn:microsoft.com/office/officeart/2018/2/layout/IconVerticalSolidList"/>
    <dgm:cxn modelId="{BE57FC8D-C74F-4373-ABCF-3E41144957AE}" type="presParOf" srcId="{264B344E-A211-428D-AF2B-CDA85B0768DF}" destId="{E9B24390-EFC6-42FB-A6AA-84CDCFB83637}" srcOrd="2" destOrd="0" presId="urn:microsoft.com/office/officeart/2018/2/layout/IconVerticalSolidList"/>
    <dgm:cxn modelId="{E2F86C07-D795-4E9D-8273-9EFB47AA2A25}" type="presParOf" srcId="{264B344E-A211-428D-AF2B-CDA85B0768DF}" destId="{01EF1138-14AB-4209-ACAB-B87925E6A5B3}" srcOrd="3" destOrd="0" presId="urn:microsoft.com/office/officeart/2018/2/layout/IconVerticalSolidList"/>
    <dgm:cxn modelId="{7B97474B-B288-47A7-9F1F-A370EED9EBDF}" type="presParOf" srcId="{F416D2DE-E65D-4314-A031-07D0DA593CBD}" destId="{776F5B12-0AD9-492A-80BA-5B4E453F10AD}" srcOrd="3" destOrd="0" presId="urn:microsoft.com/office/officeart/2018/2/layout/IconVerticalSolidList"/>
    <dgm:cxn modelId="{23CCB4DE-A2C2-4B12-94C3-4AE4C84B3D1A}" type="presParOf" srcId="{F416D2DE-E65D-4314-A031-07D0DA593CBD}" destId="{503ACCAA-C27B-45F7-A7DD-6ABCA7603FCE}" srcOrd="4" destOrd="0" presId="urn:microsoft.com/office/officeart/2018/2/layout/IconVerticalSolidList"/>
    <dgm:cxn modelId="{E4A674E7-D158-4B72-A98F-A70D4A22F12F}" type="presParOf" srcId="{503ACCAA-C27B-45F7-A7DD-6ABCA7603FCE}" destId="{37D6211F-8FD1-4E8E-B7F0-920AA161CAEF}" srcOrd="0" destOrd="0" presId="urn:microsoft.com/office/officeart/2018/2/layout/IconVerticalSolidList"/>
    <dgm:cxn modelId="{B5A94DA9-1497-43E4-BE4B-990B8B3F7BF1}" type="presParOf" srcId="{503ACCAA-C27B-45F7-A7DD-6ABCA7603FCE}" destId="{775CCAA9-15E8-4044-8875-F36A8108E9D8}" srcOrd="1" destOrd="0" presId="urn:microsoft.com/office/officeart/2018/2/layout/IconVerticalSolidList"/>
    <dgm:cxn modelId="{A1C328E0-89E3-4182-8586-B2E33ED50053}" type="presParOf" srcId="{503ACCAA-C27B-45F7-A7DD-6ABCA7603FCE}" destId="{A5F73196-B92F-4B3E-A066-7DB55A9BBEAD}" srcOrd="2" destOrd="0" presId="urn:microsoft.com/office/officeart/2018/2/layout/IconVerticalSolidList"/>
    <dgm:cxn modelId="{67CD89FA-5C2C-4677-A52B-5D63088B1C89}" type="presParOf" srcId="{503ACCAA-C27B-45F7-A7DD-6ABCA7603FCE}" destId="{2EBE1D25-434F-429A-B5F4-9A5C642DF166}" srcOrd="3" destOrd="0" presId="urn:microsoft.com/office/officeart/2018/2/layout/IconVerticalSolidList"/>
    <dgm:cxn modelId="{AD32CBEA-CE5A-42A9-9DC6-C304DB9C60D1}" type="presParOf" srcId="{F416D2DE-E65D-4314-A031-07D0DA593CBD}" destId="{80F42D6E-D582-4449-986A-12463C067C79}" srcOrd="5" destOrd="0" presId="urn:microsoft.com/office/officeart/2018/2/layout/IconVerticalSolidList"/>
    <dgm:cxn modelId="{8DD1DEC0-0843-4B5C-8371-3A7BE6A28B9F}" type="presParOf" srcId="{F416D2DE-E65D-4314-A031-07D0DA593CBD}" destId="{50A4516D-7F8F-4585-B86C-855A7A328C0A}" srcOrd="6" destOrd="0" presId="urn:microsoft.com/office/officeart/2018/2/layout/IconVerticalSolidList"/>
    <dgm:cxn modelId="{86B152ED-84CF-46F4-844C-54C1BE625748}" type="presParOf" srcId="{50A4516D-7F8F-4585-B86C-855A7A328C0A}" destId="{E4FE6BA4-0194-4E47-89CB-A5F4FF9B46F7}" srcOrd="0" destOrd="0" presId="urn:microsoft.com/office/officeart/2018/2/layout/IconVerticalSolidList"/>
    <dgm:cxn modelId="{19F79F21-289F-4258-92B2-41D17589DFB6}" type="presParOf" srcId="{50A4516D-7F8F-4585-B86C-855A7A328C0A}" destId="{FAD87ADE-91C8-4C63-B538-1988BECAFCD6}" srcOrd="1" destOrd="0" presId="urn:microsoft.com/office/officeart/2018/2/layout/IconVerticalSolidList"/>
    <dgm:cxn modelId="{8F990EEC-C161-41A9-98D8-BAFEF6EC819F}" type="presParOf" srcId="{50A4516D-7F8F-4585-B86C-855A7A328C0A}" destId="{D903F3AB-ECD5-42B7-911F-2251607917CB}" srcOrd="2" destOrd="0" presId="urn:microsoft.com/office/officeart/2018/2/layout/IconVerticalSolidList"/>
    <dgm:cxn modelId="{17D58DA3-2E54-4181-8331-D4C8B0A07A2F}" type="presParOf" srcId="{50A4516D-7F8F-4585-B86C-855A7A328C0A}" destId="{D9605F1C-0146-4449-838F-81CF37FF28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BF226-3BE1-4CE1-AF92-217F7182E802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B26E0-E0BB-4C38-A22E-A73C87EBBCF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1E63B-E7D6-47D3-8CF9-92FE680A8351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When requirements are likely to change.</a:t>
          </a:r>
          <a:endParaRPr lang="en-US" sz="2200" kern="1200" dirty="0"/>
        </a:p>
      </dsp:txBody>
      <dsp:txXfrm>
        <a:off x="1339618" y="2288"/>
        <a:ext cx="5024605" cy="1159843"/>
      </dsp:txXfrm>
    </dsp:sp>
    <dsp:sp modelId="{06FE115B-247F-4800-8421-3BE796735E4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3FEF7-F194-4D75-B40D-6E60B3BDCB8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F1138-14AB-4209-ACAB-B87925E6A5B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When fast delivery is needed.</a:t>
          </a:r>
          <a:endParaRPr lang="en-US" sz="2200" kern="1200" dirty="0"/>
        </a:p>
      </dsp:txBody>
      <dsp:txXfrm>
        <a:off x="1339618" y="1452092"/>
        <a:ext cx="5024605" cy="1159843"/>
      </dsp:txXfrm>
    </dsp:sp>
    <dsp:sp modelId="{37D6211F-8FD1-4E8E-B7F0-920AA161CAEF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CCAA9-15E8-4044-8875-F36A8108E9D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E1D25-434F-429A-B5F4-9A5C642DF166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When customer involvement is possible.</a:t>
          </a:r>
          <a:endParaRPr lang="en-US" sz="2200" kern="1200"/>
        </a:p>
      </dsp:txBody>
      <dsp:txXfrm>
        <a:off x="1339618" y="2901896"/>
        <a:ext cx="5024605" cy="1159843"/>
      </dsp:txXfrm>
    </dsp:sp>
    <dsp:sp modelId="{E4FE6BA4-0194-4E47-89CB-A5F4FF9B46F7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87ADE-91C8-4C63-B538-1988BECAFCD6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05F1C-0146-4449-838F-81CF37FF2882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When projects need frequent updates.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0438"/>
            <a:ext cx="9144000" cy="2387600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Angsana New"/>
                <a:cs typeface="Angsana New"/>
              </a:rPr>
              <a:t>PRESENTATION OF</a:t>
            </a:r>
            <a:br>
              <a:rPr lang="en-GB" sz="5400" dirty="0">
                <a:latin typeface="Angsana New"/>
                <a:cs typeface="Angsana New"/>
              </a:rPr>
            </a:br>
            <a:r>
              <a:rPr lang="en-GB" sz="3600" dirty="0">
                <a:latin typeface="Angsana New"/>
                <a:cs typeface="Angsana New"/>
              </a:rPr>
              <a:t>SOFTWARE ENGINEERING &amp; SYSTEMATIC ANALYSIS</a:t>
            </a:r>
          </a:p>
        </p:txBody>
      </p:sp>
      <p:pic>
        <p:nvPicPr>
          <p:cNvPr id="4" name="Picture 3" descr="A logo of a book&#10;&#10;AI-generated content may be incorrect.">
            <a:extLst>
              <a:ext uri="{FF2B5EF4-FFF2-40B4-BE49-F238E27FC236}">
                <a16:creationId xmlns:a16="http://schemas.microsoft.com/office/drawing/2014/main" id="{FB0C48E9-1A8D-E5DD-2575-11E6D86D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656" y="187509"/>
            <a:ext cx="1841007" cy="181881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B471F9-FBD9-6F27-F245-3E8F0DBC3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34559"/>
              </p:ext>
            </p:extLst>
          </p:nvPr>
        </p:nvGraphicFramePr>
        <p:xfrm>
          <a:off x="1399713" y="3649963"/>
          <a:ext cx="9721182" cy="214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1922">
                  <a:extLst>
                    <a:ext uri="{9D8B030D-6E8A-4147-A177-3AD203B41FA5}">
                      <a16:colId xmlns:a16="http://schemas.microsoft.com/office/drawing/2014/main" val="1571754848"/>
                    </a:ext>
                  </a:extLst>
                </a:gridCol>
                <a:gridCol w="5319260">
                  <a:extLst>
                    <a:ext uri="{9D8B030D-6E8A-4147-A177-3AD203B41FA5}">
                      <a16:colId xmlns:a16="http://schemas.microsoft.com/office/drawing/2014/main" val="986678166"/>
                    </a:ext>
                  </a:extLst>
                </a:gridCol>
              </a:tblGrid>
              <a:tr h="214173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>
                          <a:solidFill>
                            <a:srgbClr val="0F9ED5"/>
                          </a:solidFill>
                        </a:rPr>
                        <a:t>Submitted by: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Shalehin Ahmed Ornob – 0432410005101083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Joy Goswami Niloy           – 0432410005101069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Shamiur Hasan                  – 0432410005101053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Helal Uddin Patwary        – 0432410005101086</a:t>
                      </a:r>
                    </a:p>
                    <a:p>
                      <a:pPr marL="0" lvl="0" indent="0"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2011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68C10E-14E6-691E-5AB1-9ADE6302F581}"/>
              </a:ext>
            </a:extLst>
          </p:cNvPr>
          <p:cNvSpPr txBox="1"/>
          <p:nvPr/>
        </p:nvSpPr>
        <p:spPr>
          <a:xfrm>
            <a:off x="1524000" y="3546829"/>
            <a:ext cx="413107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US" sz="3200" b="1" dirty="0">
                <a:solidFill>
                  <a:srgbClr val="0F9ED5"/>
                </a:solidFill>
              </a:rPr>
              <a:t>Submitted to:</a:t>
            </a:r>
          </a:p>
          <a:p>
            <a:pPr lvl="0">
              <a:buNone/>
            </a:pPr>
            <a:r>
              <a:rPr lang="en-US" sz="1800" dirty="0">
                <a:solidFill>
                  <a:srgbClr val="000000"/>
                </a:solidFill>
              </a:rPr>
              <a:t>Dr. Syed Arif Islam</a:t>
            </a:r>
          </a:p>
          <a:p>
            <a:pPr lvl="0">
              <a:buNone/>
            </a:pPr>
            <a:r>
              <a:rPr lang="en-US" sz="1800" dirty="0">
                <a:solidFill>
                  <a:srgbClr val="000000"/>
                </a:solidFill>
              </a:rPr>
              <a:t>Assistant Professor</a:t>
            </a:r>
          </a:p>
          <a:p>
            <a:pPr lvl="0">
              <a:buNone/>
            </a:pPr>
            <a:r>
              <a:rPr lang="en-US" sz="1800" dirty="0">
                <a:solidFill>
                  <a:srgbClr val="000000"/>
                </a:solidFill>
              </a:rPr>
              <a:t>Department of CSE</a:t>
            </a:r>
          </a:p>
          <a:p>
            <a:pPr lvl="0">
              <a:buNone/>
            </a:pPr>
            <a:r>
              <a:rPr lang="en-US" sz="1800" dirty="0">
                <a:solidFill>
                  <a:srgbClr val="000000"/>
                </a:solidFill>
              </a:rPr>
              <a:t>University of Information &amp; Technology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8" name="Freeform: Shape 77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0" name="Freeform: Shape 7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705D9-9E4F-0059-060C-A5ECA5A77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826854"/>
            <a:ext cx="4023360" cy="27440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PRESENTED TOPIC:</a:t>
            </a:r>
            <a:br>
              <a:rPr lang="en-US" sz="3600" dirty="0"/>
            </a:br>
            <a:r>
              <a:rPr lang="en-US" sz="3600" kern="1200" dirty="0">
                <a:solidFill>
                  <a:schemeClr val="accent2">
                    <a:lumMod val="76000"/>
                  </a:schemeClr>
                </a:solidFill>
                <a:latin typeface="+mj-lt"/>
                <a:ea typeface="+mj-ea"/>
                <a:cs typeface="+mj-cs"/>
              </a:rPr>
              <a:t>AGILE </a:t>
            </a:r>
            <a:r>
              <a:rPr lang="en-US" sz="3600" dirty="0">
                <a:solidFill>
                  <a:schemeClr val="accent2">
                    <a:lumMod val="76000"/>
                  </a:schemeClr>
                </a:solidFill>
              </a:rPr>
              <a:t>DEVLOPMENT MODEL</a:t>
            </a:r>
            <a:endParaRPr lang="en-US" sz="3600" kern="1200" dirty="0">
              <a:solidFill>
                <a:schemeClr val="accent2">
                  <a:lumMod val="76000"/>
                </a:schemeClr>
              </a:solidFill>
              <a:latin typeface="+mj-lt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7DC50-D9FC-99B6-D5C4-F6FC0053D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568" y="69484"/>
            <a:ext cx="7754432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08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43A35-E025-CB62-30D0-D08FD2C6A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486486" cy="448072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sz="6600" dirty="0">
                <a:solidFill>
                  <a:schemeClr val="accent2">
                    <a:lumMod val="76000"/>
                  </a:schemeClr>
                </a:solidFill>
                <a:latin typeface="Aptos Display"/>
              </a:rPr>
              <a:t>What is Agile Method ?</a:t>
            </a:r>
            <a:endParaRPr lang="en-US" sz="6600" dirty="0">
              <a:solidFill>
                <a:schemeClr val="accent2">
                  <a:lumMod val="76000"/>
                </a:schemeClr>
              </a:solidFill>
              <a:latin typeface="Aptos Display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F934-EFCB-D585-FBF9-E95B0CC65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dirty="0">
                <a:ea typeface="+mn-lt"/>
                <a:cs typeface="+mn-lt"/>
              </a:rPr>
              <a:t>The Agile Model is all about building software step by step, getting feedback, and improving continuously, instead of waiting until the end to deliver the whole system.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335807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7083-81B8-E36D-AD7B-A3452969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81" y="264485"/>
            <a:ext cx="11335109" cy="1092614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5400" kern="100" dirty="0">
                <a:latin typeface="Calibri"/>
                <a:ea typeface="Calibri"/>
                <a:cs typeface="Vrinda"/>
              </a:rPr>
            </a:br>
            <a:r>
              <a:rPr lang="en-US" sz="5400" kern="100" dirty="0">
                <a:solidFill>
                  <a:schemeClr val="accent2">
                    <a:lumMod val="76000"/>
                  </a:schemeClr>
                </a:solidFill>
                <a:latin typeface="Calibri"/>
                <a:ea typeface="Calibri"/>
                <a:cs typeface="Vrinda"/>
              </a:rPr>
              <a:t>Steps in the Agile Development Model</a:t>
            </a:r>
            <a:br>
              <a:rPr lang="en-US" sz="5400" kern="100" dirty="0">
                <a:latin typeface="Calibri"/>
                <a:ea typeface="Calibri"/>
                <a:cs typeface="Vrinda"/>
              </a:rPr>
            </a:br>
            <a:endParaRPr lang="en-US" sz="5400" dirty="0">
              <a:solidFill>
                <a:srgbClr val="000000"/>
              </a:solidFill>
              <a:latin typeface="Aptos Display"/>
              <a:ea typeface="Calibri"/>
              <a:cs typeface="Vrind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CFE2-4FB2-28B5-94D6-07A10228D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628" y="1717136"/>
            <a:ext cx="11134534" cy="4911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/>
                <a:ea typeface="Calibri"/>
                <a:cs typeface="Vrinda"/>
              </a:rPr>
              <a:t>Step1- Requirement Gathering: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Vrinda"/>
              </a:rPr>
              <a:t>  </a:t>
            </a:r>
            <a:r>
              <a:rPr lang="en-US" sz="2400" kern="100" dirty="0">
                <a:solidFill>
                  <a:srgbClr val="000000"/>
                </a:solidFill>
                <a:latin typeface="Calibri"/>
                <a:ea typeface="Calibri"/>
                <a:cs typeface="Vrinda"/>
              </a:rPr>
              <a:t>That </a:t>
            </a:r>
            <a:r>
              <a:rPr lang="en-US" sz="2400" kern="100" dirty="0">
                <a:latin typeface="Calibri"/>
                <a:ea typeface="Calibri"/>
                <a:cs typeface="Vrinda"/>
              </a:rPr>
              <a:t>defines</a:t>
            </a:r>
            <a:r>
              <a:rPr lang="en-US" sz="2400" kern="100" dirty="0">
                <a:effectLst/>
                <a:latin typeface="Calibri"/>
                <a:ea typeface="Calibri"/>
                <a:cs typeface="Vrinda"/>
              </a:rPr>
              <a:t> what the software needs to do.</a:t>
            </a:r>
            <a:r>
              <a:rPr lang="en-US" sz="2400" dirty="0">
                <a:effectLst/>
                <a:latin typeface="Calibri"/>
                <a:ea typeface="Calibri"/>
                <a:cs typeface="Vrinda"/>
              </a:rPr>
              <a:t> </a:t>
            </a:r>
            <a:endParaRPr lang="en-US" sz="2400" kern="100" dirty="0">
              <a:effectLst/>
              <a:latin typeface="Calibri"/>
              <a:ea typeface="Calibri"/>
              <a:cs typeface="Vrinda"/>
            </a:endParaRP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libri"/>
                <a:ea typeface="Calibri"/>
                <a:cs typeface="Vrinda"/>
              </a:rPr>
              <a:t>Step2- Design Requirements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/>
                <a:ea typeface="Calibri"/>
                <a:cs typeface="Vrinda"/>
              </a:rPr>
              <a:t>: 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Vrinda"/>
              </a:rPr>
              <a:t> </a:t>
            </a:r>
            <a:r>
              <a:rPr lang="en-US" sz="2400" dirty="0">
                <a:latin typeface="Calibri"/>
                <a:ea typeface="Calibri"/>
                <a:cs typeface="Vrinda"/>
              </a:rPr>
              <a:t>That's </a:t>
            </a:r>
            <a:r>
              <a:rPr lang="en-US" sz="2400" dirty="0">
                <a:effectLst/>
                <a:latin typeface="Calibri"/>
                <a:ea typeface="Calibri"/>
                <a:cs typeface="Vrinda"/>
              </a:rPr>
              <a:t>creates the technical blueprint for how to build </a:t>
            </a:r>
            <a:r>
              <a:rPr lang="en-US" sz="2400" dirty="0">
                <a:latin typeface="Calibri"/>
                <a:ea typeface="Calibri"/>
                <a:cs typeface="Vrinda"/>
              </a:rPr>
              <a:t>it.</a:t>
            </a:r>
            <a:endParaRPr lang="en-US" sz="2400" dirty="0">
              <a:effectLst/>
              <a:latin typeface="Calibri"/>
              <a:ea typeface="Calibri"/>
              <a:cs typeface="Vrinda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Step3- Construction: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This is where developers write the code to build the software.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Stepr4- Testing/Quality Assurance : 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This step finds and fixes bugs to ensure the software works correctly.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Step5- Deployment: 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This is when the finished software is released to users.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Step6- Feedback: 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This step collects user input to plan future improvements.</a:t>
            </a: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indent="0" algn="just">
              <a:lnSpc>
                <a:spcPct val="100000"/>
              </a:lnSpc>
              <a:spcAft>
                <a:spcPts val="600"/>
              </a:spcAft>
              <a:buNone/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01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7" name="Rectangle 496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Freeform: Shape 488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8530B-D4F4-6FC5-1902-004C14A9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79" y="751935"/>
            <a:ext cx="4191000" cy="5338763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Agile SDLC Methods </a:t>
            </a:r>
            <a:endParaRPr lang="en-US" sz="5400" b="1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482" name="Content Placeholder 481">
            <a:extLst>
              <a:ext uri="{FF2B5EF4-FFF2-40B4-BE49-F238E27FC236}">
                <a16:creationId xmlns:a16="http://schemas.microsoft.com/office/drawing/2014/main" id="{FB343A61-5877-6D74-4DC9-93D78F12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565" y="526855"/>
            <a:ext cx="6067618" cy="601378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Main Methods:</a:t>
            </a: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Scrum</a:t>
            </a:r>
            <a:r>
              <a:rPr lang="en-GB" sz="2000" dirty="0">
                <a:ea typeface="+mn-lt"/>
                <a:cs typeface="+mn-lt"/>
              </a:rPr>
              <a:t> → Sprint-based, team collaboration (2–4 weeks).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Kanban</a:t>
            </a:r>
            <a:r>
              <a:rPr lang="en-GB" sz="2000" dirty="0">
                <a:ea typeface="+mn-lt"/>
                <a:cs typeface="+mn-lt"/>
              </a:rPr>
              <a:t> → Visual workflow, continuous delivery.</a:t>
            </a:r>
            <a:endParaRPr lang="en-GB" sz="2000" dirty="0"/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XP (Extreme Programming)</a:t>
            </a:r>
            <a:r>
              <a:rPr lang="en-GB" sz="2000" dirty="0">
                <a:ea typeface="+mn-lt"/>
                <a:cs typeface="+mn-lt"/>
              </a:rPr>
              <a:t> → High-quality code, TDD, CI.</a:t>
            </a:r>
            <a:endParaRPr lang="en-GB" sz="2000" dirty="0"/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Lean</a:t>
            </a:r>
            <a:r>
              <a:rPr lang="en-GB" sz="2000" dirty="0">
                <a:ea typeface="+mn-lt"/>
                <a:cs typeface="+mn-lt"/>
              </a:rPr>
              <a:t> → Fast delivery, eliminate waste.</a:t>
            </a:r>
            <a:endParaRPr lang="en-GB" sz="2000" dirty="0"/>
          </a:p>
          <a:p>
            <a:pPr marL="0" indent="0">
              <a:buNone/>
            </a:pPr>
            <a:endParaRPr lang="en-GB" sz="2000" b="1" dirty="0">
              <a:ea typeface="+mn-lt"/>
              <a:cs typeface="+mn-lt"/>
            </a:endParaRPr>
          </a:p>
          <a:p>
            <a:pPr>
              <a:buNone/>
            </a:pPr>
            <a:r>
              <a:rPr lang="en-GB" sz="2000" b="1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Other Supportive Methods:</a:t>
            </a:r>
            <a:endParaRPr lang="en-GB" sz="20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TDD</a:t>
            </a:r>
            <a:r>
              <a:rPr lang="en-GB" sz="2000" dirty="0">
                <a:ea typeface="+mn-lt"/>
                <a:cs typeface="+mn-lt"/>
              </a:rPr>
              <a:t> (Test-Driven Development), </a:t>
            </a: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BDD</a:t>
            </a:r>
            <a:r>
              <a:rPr lang="en-GB" sz="2000" dirty="0">
                <a:ea typeface="+mn-lt"/>
                <a:cs typeface="+mn-lt"/>
              </a:rPr>
              <a:t> (Behaviour-Driven Development),</a:t>
            </a: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 ATDD </a:t>
            </a:r>
            <a:r>
              <a:rPr lang="en-GB" sz="2000" dirty="0">
                <a:ea typeface="+mn-lt"/>
                <a:cs typeface="+mn-lt"/>
              </a:rPr>
              <a:t>(Acceptance Test-Driven Development), </a:t>
            </a: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Exploratory &amp; Session-Based Testing, </a:t>
            </a:r>
          </a:p>
          <a:p>
            <a:pPr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DSDM</a:t>
            </a:r>
            <a:r>
              <a:rPr lang="en-GB" sz="2000" dirty="0">
                <a:ea typeface="+mn-lt"/>
                <a:cs typeface="+mn-lt"/>
              </a:rPr>
              <a:t> (Dynamic Systems Development Method), </a:t>
            </a: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Crystal Methodologies.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11735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8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7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9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FFBED-D26E-6C3D-C16E-3196F5A6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890283" cy="4526280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Principles of Agile </a:t>
            </a:r>
            <a:r>
              <a:rPr lang="en-GB" sz="2800" dirty="0">
                <a:solidFill>
                  <a:schemeClr val="accent4"/>
                </a:solidFill>
                <a:ea typeface="+mj-lt"/>
                <a:cs typeface="+mj-lt"/>
              </a:rPr>
              <a:t>(12 from Agile Manifesto)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4B19-5ADF-F5C9-7AEE-F06C9BC9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GB" sz="2400" dirty="0">
                <a:ea typeface="+mn-lt"/>
                <a:cs typeface="+mn-lt"/>
              </a:rPr>
              <a:t>Customer satisfaction by early and continuous delivery.</a:t>
            </a:r>
            <a:endParaRPr lang="en-GB" sz="2400" dirty="0"/>
          </a:p>
          <a:p>
            <a:pPr marL="514350" indent="-514350">
              <a:buAutoNum type="arabicPeriod"/>
            </a:pPr>
            <a:r>
              <a:rPr lang="en-GB" sz="2400" dirty="0">
                <a:ea typeface="+mn-lt"/>
                <a:cs typeface="+mn-lt"/>
              </a:rPr>
              <a:t>Welcome changing requirements, even late.</a:t>
            </a:r>
            <a:endParaRPr lang="en-GB" sz="2400" dirty="0"/>
          </a:p>
          <a:p>
            <a:pPr marL="514350" indent="-514350">
              <a:buAutoNum type="arabicPeriod"/>
            </a:pPr>
            <a:r>
              <a:rPr lang="en-GB" sz="2400" dirty="0">
                <a:ea typeface="+mn-lt"/>
                <a:cs typeface="+mn-lt"/>
              </a:rPr>
              <a:t>Deliver working software frequently.</a:t>
            </a:r>
            <a:endParaRPr lang="en-GB" sz="2400" dirty="0"/>
          </a:p>
          <a:p>
            <a:pPr marL="514350" indent="-514350">
              <a:buAutoNum type="arabicPeriod"/>
            </a:pPr>
            <a:r>
              <a:rPr lang="en-GB" sz="2400" dirty="0">
                <a:ea typeface="+mn-lt"/>
                <a:cs typeface="+mn-lt"/>
              </a:rPr>
              <a:t>Business and developers work together daily.</a:t>
            </a:r>
            <a:endParaRPr lang="en-GB" sz="2400" dirty="0"/>
          </a:p>
          <a:p>
            <a:pPr marL="514350" indent="-514350">
              <a:buAutoNum type="arabicPeriod"/>
            </a:pPr>
            <a:r>
              <a:rPr lang="en-GB" sz="2400" dirty="0">
                <a:ea typeface="+mn-lt"/>
                <a:cs typeface="+mn-lt"/>
              </a:rPr>
              <a:t>Build projects around motivated people.</a:t>
            </a:r>
            <a:endParaRPr lang="en-GB" sz="2400" dirty="0"/>
          </a:p>
          <a:p>
            <a:pPr marL="514350" indent="-514350">
              <a:buAutoNum type="arabicPeriod"/>
            </a:pPr>
            <a:r>
              <a:rPr lang="en-GB" sz="2400" dirty="0">
                <a:ea typeface="+mn-lt"/>
                <a:cs typeface="+mn-lt"/>
              </a:rPr>
              <a:t>Prefer face-to-face communication.</a:t>
            </a:r>
            <a:endParaRPr lang="en-GB" sz="2400" dirty="0"/>
          </a:p>
          <a:p>
            <a:pPr marL="514350" indent="-514350">
              <a:buAutoNum type="arabicPeriod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71000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1FC10-D1C1-FFB9-3BD1-B0FAC162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861528" cy="4526280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accent2">
                    <a:lumMod val="76000"/>
                  </a:schemeClr>
                </a:solidFill>
              </a:rPr>
              <a:t>Principles of Agile</a:t>
            </a:r>
            <a:r>
              <a:rPr lang="en-GB" sz="4000" dirty="0"/>
              <a:t> </a:t>
            </a:r>
            <a:r>
              <a:rPr lang="en-GB" sz="2800" dirty="0">
                <a:solidFill>
                  <a:schemeClr val="accent4"/>
                </a:solidFill>
              </a:rPr>
              <a:t>(12 from Agile Manifesto)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ED89A-8435-B2A8-DDEB-8CA21A6F1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8056" y="1062138"/>
            <a:ext cx="6994778" cy="46254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AutoNum type="arabicPeriod" startAt="7"/>
            </a:pPr>
            <a:r>
              <a:rPr lang="en-GB" sz="2400" dirty="0">
                <a:ea typeface="+mn-lt"/>
                <a:cs typeface="+mn-lt"/>
              </a:rPr>
              <a:t>Working software = measure of   progress.</a:t>
            </a:r>
            <a:endParaRPr lang="en-GB" sz="2400" dirty="0"/>
          </a:p>
          <a:p>
            <a:pPr marL="0" indent="0">
              <a:buNone/>
            </a:pPr>
            <a:r>
              <a:rPr lang="en-GB" sz="2400" dirty="0">
                <a:ea typeface="+mn-lt"/>
                <a:cs typeface="+mn-lt"/>
              </a:rPr>
              <a:t>8.  Promote sustainable development.</a:t>
            </a:r>
            <a:endParaRPr lang="en-GB" sz="2400" dirty="0"/>
          </a:p>
          <a:p>
            <a:pPr marL="0" indent="0">
              <a:buNone/>
            </a:pPr>
            <a:r>
              <a:rPr lang="en-GB" sz="2400" dirty="0">
                <a:ea typeface="+mn-lt"/>
                <a:cs typeface="+mn-lt"/>
              </a:rPr>
              <a:t>9.  Focus on technical excellence and good design.</a:t>
            </a:r>
          </a:p>
          <a:p>
            <a:pPr marL="0" indent="0">
              <a:buNone/>
            </a:pPr>
            <a:r>
              <a:rPr lang="en-GB" sz="2400" dirty="0">
                <a:ea typeface="+mn-lt"/>
                <a:cs typeface="+mn-lt"/>
              </a:rPr>
              <a:t>10.  Simplicity is essential.</a:t>
            </a:r>
            <a:endParaRPr lang="en-GB" sz="2400" dirty="0"/>
          </a:p>
          <a:p>
            <a:pPr marL="0" indent="0">
              <a:buNone/>
            </a:pPr>
            <a:r>
              <a:rPr lang="en-GB" sz="2400" dirty="0">
                <a:ea typeface="+mn-lt"/>
                <a:cs typeface="+mn-lt"/>
              </a:rPr>
              <a:t>11.  Best ideas come from self-organizing teams.</a:t>
            </a:r>
            <a:endParaRPr lang="en-GB" sz="2400" dirty="0"/>
          </a:p>
          <a:p>
            <a:pPr marL="0" indent="0">
              <a:buNone/>
            </a:pPr>
            <a:r>
              <a:rPr lang="en-GB" sz="2400" dirty="0">
                <a:ea typeface="+mn-lt"/>
                <a:cs typeface="+mn-lt"/>
              </a:rPr>
              <a:t>12.  Reflect and improve regularly.</a:t>
            </a:r>
            <a:endParaRPr lang="en-GB" sz="2400" dirty="0"/>
          </a:p>
          <a:p>
            <a:pPr marL="514350" indent="-514350">
              <a:buAutoNum type="arabicPeriod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182468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2AEE8-B527-9F94-FCB4-C347627B1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Characteristics of Agile Process</a:t>
            </a:r>
            <a:endParaRPr lang="en-US" sz="4000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CBC2-B95B-F303-382B-901CDDBF9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dirty="0">
                <a:ea typeface="+mn-lt"/>
                <a:cs typeface="+mn-lt"/>
              </a:rPr>
              <a:t>Flexible and adaptive to change.</a:t>
            </a:r>
            <a:endParaRPr lang="en-GB" sz="2400" dirty="0"/>
          </a:p>
          <a:p>
            <a:r>
              <a:rPr lang="en-GB" sz="2400" dirty="0">
                <a:ea typeface="+mn-lt"/>
                <a:cs typeface="+mn-lt"/>
              </a:rPr>
              <a:t>Incremental development with usable output.</a:t>
            </a:r>
            <a:endParaRPr lang="en-GB" sz="2400" dirty="0"/>
          </a:p>
          <a:p>
            <a:r>
              <a:rPr lang="en-GB" sz="2400" dirty="0">
                <a:ea typeface="+mn-lt"/>
                <a:cs typeface="+mn-lt"/>
              </a:rPr>
              <a:t>Continuous customer feedback.</a:t>
            </a:r>
            <a:endParaRPr lang="en-GB" sz="2400" dirty="0"/>
          </a:p>
          <a:p>
            <a:r>
              <a:rPr lang="en-GB" sz="2400" dirty="0">
                <a:ea typeface="+mn-lt"/>
                <a:cs typeface="+mn-lt"/>
              </a:rPr>
              <a:t>Short delivery cycles.</a:t>
            </a:r>
            <a:endParaRPr lang="en-GB" sz="2400" dirty="0"/>
          </a:p>
          <a:p>
            <a:r>
              <a:rPr lang="en-GB" sz="2400" dirty="0">
                <a:ea typeface="+mn-lt"/>
                <a:cs typeface="+mn-lt"/>
              </a:rPr>
              <a:t>Iterative evaluation of progress.</a:t>
            </a:r>
            <a:endParaRPr lang="en-GB" sz="2400" dirty="0"/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330890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3DA80-9330-245A-8971-0FD261A1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90" y="1175665"/>
            <a:ext cx="4192207" cy="4526280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When to Use Agile?</a:t>
            </a:r>
            <a:endParaRPr lang="en-US" sz="4000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1E51-BF5F-17DA-FB12-5650220EC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44550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0407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A6E5-7F0D-4DB0-710D-60F2BA7F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974" y="46576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Advantages &amp; Disadvantages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7CF4EA-E54F-8BCA-50FF-6210EB8E6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922015"/>
              </p:ext>
            </p:extLst>
          </p:nvPr>
        </p:nvGraphicFramePr>
        <p:xfrm>
          <a:off x="978009" y="2199246"/>
          <a:ext cx="8992926" cy="2690481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4496463">
                  <a:extLst>
                    <a:ext uri="{9D8B030D-6E8A-4147-A177-3AD203B41FA5}">
                      <a16:colId xmlns:a16="http://schemas.microsoft.com/office/drawing/2014/main" val="3723652114"/>
                    </a:ext>
                  </a:extLst>
                </a:gridCol>
                <a:gridCol w="4496463">
                  <a:extLst>
                    <a:ext uri="{9D8B030D-6E8A-4147-A177-3AD203B41FA5}">
                      <a16:colId xmlns:a16="http://schemas.microsoft.com/office/drawing/2014/main" val="508118547"/>
                    </a:ext>
                  </a:extLst>
                </a:gridCol>
              </a:tblGrid>
              <a:tr h="620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3600" kern="100" dirty="0">
                          <a:effectLst/>
                        </a:rPr>
                        <a:t>Advantages</a:t>
                      </a:r>
                      <a:endParaRPr lang="en-US" sz="2800" kern="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3600" kern="100" dirty="0">
                          <a:effectLst/>
                        </a:rPr>
                        <a:t>Disadvantages</a:t>
                      </a:r>
                      <a:endParaRPr lang="en-US" sz="2800" kern="1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1542516"/>
                  </a:ext>
                </a:extLst>
              </a:tr>
              <a:tr h="54068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kern="100">
                          <a:effectLst/>
                        </a:rPr>
                        <a:t>Adaptability to Change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Less Predictable Outcome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5032002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2000" kern="100">
                          <a:effectLst/>
                        </a:rPr>
                        <a:t>Faster Time-to-Market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Requires High Commitment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123631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kern="100">
                          <a:effectLst/>
                        </a:rPr>
                        <a:t>Higher Customer Satisfaction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 Lighter Documentation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3061863"/>
                  </a:ext>
                </a:extLst>
              </a:tr>
              <a:tr h="480019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kern="100">
                          <a:effectLst/>
                        </a:rPr>
                        <a:t>Improved Quality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Potential for Scope Creep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63890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AE52301-017D-6C3D-0766-BF265BB81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2157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F80CF-46CB-E68A-B94A-226BB538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GB" sz="460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Conclusion</a:t>
            </a:r>
            <a:endParaRPr lang="en-US" sz="4600">
              <a:solidFill>
                <a:schemeClr val="accent2">
                  <a:lumMod val="76000"/>
                </a:schemeClr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5325-3742-A403-EACD-69EA7F854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In Conclusion,</a:t>
            </a: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ea typeface="+mn-lt"/>
                <a:cs typeface="+mn-lt"/>
              </a:rPr>
              <a:t>“</a:t>
            </a:r>
            <a:r>
              <a:rPr lang="en-GB" dirty="0">
                <a:ea typeface="+mn-lt"/>
                <a:cs typeface="+mn-lt"/>
              </a:rPr>
              <a:t>Agile empowers teams to deliver software quickly, adapt to change, and create solutions that truly meet user needs.</a:t>
            </a:r>
            <a:r>
              <a:rPr lang="en-GB" dirty="0">
                <a:solidFill>
                  <a:srgbClr val="00B050"/>
                </a:solidFill>
                <a:ea typeface="+mn-lt"/>
                <a:cs typeface="+mn-lt"/>
              </a:rPr>
              <a:t>”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9132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482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Angsana New</vt:lpstr>
      <vt:lpstr>Aptos</vt:lpstr>
      <vt:lpstr>Aptos Display</vt:lpstr>
      <vt:lpstr>Arial</vt:lpstr>
      <vt:lpstr>Calibri</vt:lpstr>
      <vt:lpstr>office theme</vt:lpstr>
      <vt:lpstr>PRESENTATION OF SOFTWARE ENGINEERING &amp; SYSTEMATIC ANALYSIS</vt:lpstr>
      <vt:lpstr>PRESENTED TOPIC: AGILE DEVLOPMENT MODEL</vt:lpstr>
      <vt:lpstr>What is Agile Method ?</vt:lpstr>
      <vt:lpstr> Steps in the Agile Development Model </vt:lpstr>
      <vt:lpstr>Agile SDLC Methods </vt:lpstr>
      <vt:lpstr>Principles of Agile (12 from Agile Manifesto)</vt:lpstr>
      <vt:lpstr>Principles of Agile (12 from Agile Manifesto)</vt:lpstr>
      <vt:lpstr>Characteristics of Agile Process</vt:lpstr>
      <vt:lpstr>When to Use Agile?</vt:lpstr>
      <vt:lpstr>Advantages &amp; Disadvantages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Shalehin Ahmed Ornob</cp:lastModifiedBy>
  <cp:revision>3</cp:revision>
  <dcterms:created xsi:type="dcterms:W3CDTF">2025-08-31T19:18:41Z</dcterms:created>
  <dcterms:modified xsi:type="dcterms:W3CDTF">2025-09-02T19:17:42Z</dcterms:modified>
</cp:coreProperties>
</file>